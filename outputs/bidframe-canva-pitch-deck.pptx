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8cd8b234d7415d" /><Relationship Type="http://schemas.openxmlformats.org/officeDocument/2006/relationships/extended-properties" Target="/docProps/app.xml" Id="R9ab4cfa50bfe4cbb" /><Relationship Type="http://schemas.openxmlformats.org/officeDocument/2006/relationships/officeDocument" Target="/ppt/presentation.xml" Id="R2e7d5131b99b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6d9072c0ff4e1d"/>
  </p:sldMasterIdLst>
  <p:notesMasterIdLst>
    <p:notesMasterId xmlns:r="http://schemas.openxmlformats.org/officeDocument/2006/relationships" r:id="Rc4681bd6479c425d"/>
  </p:notesMasterIdLst>
  <p:sldIdLst>
    <p:sldId xmlns:r="http://schemas.openxmlformats.org/officeDocument/2006/relationships" id="256" r:id="R011f1f4519144bc6"/>
    <p:sldId xmlns:r="http://schemas.openxmlformats.org/officeDocument/2006/relationships" id="257" r:id="R28be8dc4da144de9"/>
    <p:sldId xmlns:r="http://schemas.openxmlformats.org/officeDocument/2006/relationships" id="258" r:id="R9b8214c01ea3446e"/>
    <p:sldId xmlns:r="http://schemas.openxmlformats.org/officeDocument/2006/relationships" id="259" r:id="Rcda3ad7099654d3b"/>
    <p:sldId xmlns:r="http://schemas.openxmlformats.org/officeDocument/2006/relationships" id="260" r:id="R3bab0f24118d4e52"/>
    <p:sldId xmlns:r="http://schemas.openxmlformats.org/officeDocument/2006/relationships" id="261" r:id="R3a6caf970b33415f"/>
    <p:sldId xmlns:r="http://schemas.openxmlformats.org/officeDocument/2006/relationships" id="262" r:id="R4259bf3bdd9e4642"/>
    <p:sldId xmlns:r="http://schemas.openxmlformats.org/officeDocument/2006/relationships" id="263" r:id="R9226c4bef9424c71"/>
    <p:sldId xmlns:r="http://schemas.openxmlformats.org/officeDocument/2006/relationships" id="264" r:id="Re8f331c283bd42af"/>
    <p:sldId xmlns:r="http://schemas.openxmlformats.org/officeDocument/2006/relationships" id="265" r:id="R357a5ba566a04823"/>
    <p:sldId xmlns:r="http://schemas.openxmlformats.org/officeDocument/2006/relationships" id="266" r:id="Rd1bdcc82f3034361"/>
    <p:sldId xmlns:r="http://schemas.openxmlformats.org/officeDocument/2006/relationships" id="267" r:id="R77806c61097b43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f27bd25b4c401c" /><Relationship Type="http://schemas.openxmlformats.org/officeDocument/2006/relationships/slideMaster" Target="/ppt/slideMasters/slideMaster1.xml" Id="R446d9072c0ff4e1d" /><Relationship Type="http://schemas.openxmlformats.org/officeDocument/2006/relationships/notesMaster" Target="/ppt/notesMasters/notesMaster1.xml" Id="Rc4681bd6479c425d" /><Relationship Type="http://schemas.openxmlformats.org/officeDocument/2006/relationships/presProps" Target="/ppt/presProps.xml" Id="Rbe9fb2e28e3f41f3" /><Relationship Type="http://schemas.openxmlformats.org/officeDocument/2006/relationships/tableStyles" Target="/ppt/tableStyles.xml" Id="R7a589b9b47654347" /><Relationship Type="http://schemas.openxmlformats.org/officeDocument/2006/relationships/slide" Target="/ppt/slides/slide1.xml" Id="R011f1f4519144bc6" /><Relationship Type="http://schemas.openxmlformats.org/officeDocument/2006/relationships/slide" Target="/ppt/slides/slide2.xml" Id="R28be8dc4da144de9" /><Relationship Type="http://schemas.openxmlformats.org/officeDocument/2006/relationships/slide" Target="/ppt/slides/slide3.xml" Id="R9b8214c01ea3446e" /><Relationship Type="http://schemas.openxmlformats.org/officeDocument/2006/relationships/slide" Target="/ppt/slides/slide4.xml" Id="Rcda3ad7099654d3b" /><Relationship Type="http://schemas.openxmlformats.org/officeDocument/2006/relationships/slide" Target="/ppt/slides/slide5.xml" Id="R3bab0f24118d4e52" /><Relationship Type="http://schemas.openxmlformats.org/officeDocument/2006/relationships/slide" Target="/ppt/slides/slide6.xml" Id="R3a6caf970b33415f" /><Relationship Type="http://schemas.openxmlformats.org/officeDocument/2006/relationships/slide" Target="/ppt/slides/slide7.xml" Id="R4259bf3bdd9e4642" /><Relationship Type="http://schemas.openxmlformats.org/officeDocument/2006/relationships/slide" Target="/ppt/slides/slide8.xml" Id="R9226c4bef9424c71" /><Relationship Type="http://schemas.openxmlformats.org/officeDocument/2006/relationships/slide" Target="/ppt/slides/slide9.xml" Id="Re8f331c283bd42af" /><Relationship Type="http://schemas.openxmlformats.org/officeDocument/2006/relationships/slide" Target="/ppt/slides/slide10.xml" Id="R357a5ba566a04823" /><Relationship Type="http://schemas.openxmlformats.org/officeDocument/2006/relationships/slide" Target="/ppt/slides/slide11.xml" Id="Rd1bdcc82f3034361" /><Relationship Type="http://schemas.openxmlformats.org/officeDocument/2006/relationships/slide" Target="/ppt/slides/slide12.xml" Id="R77806c61097b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af7488596e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b96472dcab4f73" /><Relationship Type="http://schemas.openxmlformats.org/officeDocument/2006/relationships/notesMaster" Target="/ppt/notesMasters/notesMaster1.xml" Id="R6f8b56b3e70a47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ef251f11374d47" /><Relationship Type="http://schemas.openxmlformats.org/officeDocument/2006/relationships/notesMaster" Target="/ppt/notesMasters/notesMaster1.xml" Id="R8f29d620f86e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b5e4192394f03" /><Relationship Type="http://schemas.openxmlformats.org/officeDocument/2006/relationships/notesMaster" Target="/ppt/notesMasters/notesMaster1.xml" Id="R8d88fbf57a27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70e8bd4a03412f" /><Relationship Type="http://schemas.openxmlformats.org/officeDocument/2006/relationships/notesMaster" Target="/ppt/notesMasters/notesMaster1.xml" Id="Rd2ee2153c76f4f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d7c4b3b7334b73" /><Relationship Type="http://schemas.openxmlformats.org/officeDocument/2006/relationships/notesMaster" Target="/ppt/notesMasters/notesMaster1.xml" Id="Rd50fa8620bde40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34f80a12c14adb" /><Relationship Type="http://schemas.openxmlformats.org/officeDocument/2006/relationships/notesMaster" Target="/ppt/notesMasters/notesMaster1.xml" Id="Rab17bff44e7446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836f91b36c4381" /><Relationship Type="http://schemas.openxmlformats.org/officeDocument/2006/relationships/notesMaster" Target="/ppt/notesMasters/notesMaster1.xml" Id="Rcd87319b98a941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c60496d3564bdd" /><Relationship Type="http://schemas.openxmlformats.org/officeDocument/2006/relationships/notesMaster" Target="/ppt/notesMasters/notesMaster1.xml" Id="Rdf581d6ea27d40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2d14bdd7bb4999" /><Relationship Type="http://schemas.openxmlformats.org/officeDocument/2006/relationships/notesMaster" Target="/ppt/notesMasters/notesMaster1.xml" Id="R612fcf9fee8e42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7187f068a34df3" /><Relationship Type="http://schemas.openxmlformats.org/officeDocument/2006/relationships/notesMaster" Target="/ppt/notesMasters/notesMaster1.xml" Id="Rd9ff1d0ef29143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6e079fb0b341bf" /><Relationship Type="http://schemas.openxmlformats.org/officeDocument/2006/relationships/notesMaster" Target="/ppt/notesMasters/notesMaster1.xml" Id="Rf7622eba3c1344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9dd2ceb99f4202" /><Relationship Type="http://schemas.openxmlformats.org/officeDocument/2006/relationships/notesMaster" Target="/ppt/notesMasters/notesMaster1.xml" Id="Rce2599723aca48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Jawad.</a:t>
            </a:r>
          </a:p>
          <a:p xmlns:a="http://schemas.openxmlformats.org/drawingml/2006/main">
            <a:r>
              <a:t>Open by defining tender in plain English: the buyer's instruction pack for a public contract.</a:t>
            </a:r>
          </a:p>
          <a:p xmlns:a="http://schemas.openxmlformats.org/drawingml/2006/main">
            <a:r>
              <a:t>Say that suppliers respond with a bid, and a single missed mandatory gate can remove them before their strengths are read.</a:t>
            </a:r>
          </a:p>
          <a:p xmlns:a="http://schemas.openxmlformats.org/drawingml/2006/main">
            <a:r>
              <a:t>Keep this to around 20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Bobby.</a:t>
            </a:r>
          </a:p>
          <a:p xmlns:a="http://schemas.openxmlformats.org/drawingml/2006/main">
            <a:r>
              <a:t>Walk the room through the buyer-to-bidder workflow.</a:t>
            </a:r>
          </a:p>
          <a:p xmlns:a="http://schemas.openxmlformats.org/drawingml/2006/main">
            <a:r>
              <a:t>Define compliance matrix as the bidder's checklist, and deal-breaker as a pass/fail rule.</a:t>
            </a:r>
          </a:p>
          <a:p xmlns:a="http://schemas.openxmlformats.org/drawingml/2006/main">
            <a:r>
              <a:t>Do not dwell on the market number; it is just there to prove this is not tiny 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Pranav.</a:t>
            </a:r>
          </a:p>
          <a:p xmlns:a="http://schemas.openxmlformats.org/drawingml/2006/main">
            <a:r>
              <a:t>Say that Bidframe is not trying to replace the bid manager.</a:t>
            </a:r>
          </a:p>
          <a:p xmlns:a="http://schemas.openxmlformats.org/drawingml/2006/main">
            <a:r>
              <a:t>It does the first read and creates the structured worklist they need.</a:t>
            </a:r>
          </a:p>
          <a:p xmlns:a="http://schemas.openxmlformats.org/drawingml/2006/main">
            <a:r>
              <a:t>Point to the deal-breaker in the screenshot and say it is not buried in row 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Joel.</a:t>
            </a:r>
          </a:p>
          <a:p xmlns:a="http://schemas.openxmlformats.org/drawingml/2006/main">
            <a:r>
              <a:t>The product point is confidence through evidence, not confidence theatre.</a:t>
            </a:r>
          </a:p>
          <a:p xmlns:a="http://schemas.openxmlformats.org/drawingml/2006/main">
            <a:r>
              <a:t>Keep the claims scoped: worked example, hero tender, groundedness checks.</a:t>
            </a:r>
          </a:p>
          <a:p xmlns:a="http://schemas.openxmlformats.org/drawingml/2006/main">
            <a:r>
              <a:t>Say the bid manager can check the source line before trusting the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Joel leads, Bobby supports.</a:t>
            </a:r>
          </a:p>
          <a:p xmlns:a="http://schemas.openxmlformats.org/drawingml/2006/main">
            <a:r>
              <a:t>Open bidframe.org/demo, point to the deal-breaker, open the source proof, then show answer receipts.</a:t>
            </a:r>
          </a:p>
          <a:p xmlns:a="http://schemas.openxmlformats.org/drawingml/2006/main">
            <a:r>
              <a:t>Use the exact wording: cached output from our real backend pipeline for stage reliability.</a:t>
            </a:r>
          </a:p>
          <a:p xmlns:a="http://schemas.openxmlformats.org/drawingml/2006/main">
            <a:r>
              <a:t>End by saying the bid manager approves every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Pranav.</a:t>
            </a:r>
          </a:p>
          <a:p xmlns:a="http://schemas.openxmlformats.org/drawingml/2006/main">
            <a:r>
              <a:t>Make the engineering credible without turning it into a deep architecture walkthrough.</a:t>
            </a:r>
          </a:p>
          <a:p xmlns:a="http://schemas.openxmlformats.org/drawingml/2006/main">
            <a:r>
              <a:t>Say the bet is structured extraction plus auditability.</a:t>
            </a:r>
          </a:p>
          <a:p xmlns:a="http://schemas.openxmlformats.org/drawingml/2006/main">
            <a:r>
              <a:t>The eval is there because plausible prose is not enough; dangerous misses matter more.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Speaker: Jawad.</a:t>
            </a:r>
          </a:p>
          <a:p xmlns:a="http://schemas.openxmlformats.org/drawingml/2006/main">
            <a:r>
              <a:t>Bring the pitch back to the original problem: first-read risk in public-sector bids.</a:t>
            </a:r>
          </a:p>
          <a:p xmlns:a="http://schemas.openxmlformats.org/drawingml/2006/main">
            <a:r>
              <a:t>Use the final CTA exactly as written on the slide.</a:t>
            </a:r>
          </a:p>
          <a:p xmlns:a="http://schemas.openxmlformats.org/drawingml/2006/main">
            <a:r>
              <a:t>Invite investors, operators, and procurement experts to talk after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slide for Q&amp;A. Use if judges ask who built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proof ledger. Keep all product claims scoped.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market sources. Prefer primary links in spoken Q&amp;A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demo reliability. Mention the cached real pipeline output if asked why it is not running live on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competitive wedge. Do not overclaim against named competitors; keep it to workflow 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21669b51746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3af049bc94ed0" /><Relationship Type="http://schemas.openxmlformats.org/officeDocument/2006/relationships/slideLayout" Target="/ppt/slideLayouts/slideLayout1.xml" Id="Re0333535b2d64f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33535b2d64f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587f5792f402e" /><Relationship Type="http://schemas.openxmlformats.org/officeDocument/2006/relationships/image" Target="/ppt/media/image.bin" Id="R34aad20afed44420" /><Relationship Type="http://schemas.openxmlformats.org/officeDocument/2006/relationships/image" Target="/ppt/media/image.png" Id="R34255b3481c54b91" /><Relationship Type="http://schemas.openxmlformats.org/officeDocument/2006/relationships/image" Target="/ppt/media/image.svg" Id="Rbabf824e6b7c44f9" /><Relationship Type="http://schemas.openxmlformats.org/officeDocument/2006/relationships/image" Target="/ppt/media/image2.png" Id="R2094639fca234b1f" /><Relationship Type="http://schemas.openxmlformats.org/officeDocument/2006/relationships/image" Target="/ppt/media/image2.svg" Id="Rf0681156f3c145e1" /><Relationship Type="http://schemas.openxmlformats.org/officeDocument/2006/relationships/notesSlide" Target="/ppt/notesSlides/notesSlide1.xml" Id="Rf0cce889398a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ae83181f54a12" /><Relationship Type="http://schemas.openxmlformats.org/officeDocument/2006/relationships/notesSlide" Target="/ppt/notesSlides/notesSlide2.xml" Id="R64b7b0e2a60447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f1626ed8b4131" /><Relationship Type="http://schemas.openxmlformats.org/officeDocument/2006/relationships/image" Target="/ppt/media/image.jpeg" Id="R0606de56d4b94b64" /><Relationship Type="http://schemas.openxmlformats.org/officeDocument/2006/relationships/notesSlide" Target="/ppt/notesSlides/notesSlide3.xml" Id="R818b027491c441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3c6197eed446b" /><Relationship Type="http://schemas.openxmlformats.org/officeDocument/2006/relationships/image" Target="/ppt/media/image2.jpeg" Id="R0c6de00e48a04a5b" /><Relationship Type="http://schemas.openxmlformats.org/officeDocument/2006/relationships/image" Target="/ppt/media/image3.jpeg" Id="Reabf191e4b0346e7" /><Relationship Type="http://schemas.openxmlformats.org/officeDocument/2006/relationships/image" Target="/ppt/media/image4.jpeg" Id="Rea0cf901d0a04632" /><Relationship Type="http://schemas.openxmlformats.org/officeDocument/2006/relationships/notesSlide" Target="/ppt/notesSlides/notesSlide4.xml" Id="R491b9b60b8d6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24ba13068440b" /><Relationship Type="http://schemas.openxmlformats.org/officeDocument/2006/relationships/image" Target="/ppt/media/image5.jpeg" Id="R8d220076856a42ee" /><Relationship Type="http://schemas.openxmlformats.org/officeDocument/2006/relationships/image" Target="/ppt/media/image6.jpeg" Id="R25c56a8bef7d4942" /><Relationship Type="http://schemas.openxmlformats.org/officeDocument/2006/relationships/image" Target="/ppt/media/image7.jpeg" Id="R21302e768b964374" /><Relationship Type="http://schemas.openxmlformats.org/officeDocument/2006/relationships/image" Target="/ppt/media/image8.jpeg" Id="R9727f64b413747de" /><Relationship Type="http://schemas.openxmlformats.org/officeDocument/2006/relationships/hyperlink" Target="https://bidframe.org/demo" TargetMode="External" Id="R244df690924b47fb" /><Relationship Type="http://schemas.openxmlformats.org/officeDocument/2006/relationships/notesSlide" Target="/ppt/notesSlides/notesSlide5.xml" Id="Rc857bee2f07a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df66cbabc438c" /><Relationship Type="http://schemas.openxmlformats.org/officeDocument/2006/relationships/image" Target="/ppt/media/image2.bin" Id="R827e8a4ff9764aea" /><Relationship Type="http://schemas.openxmlformats.org/officeDocument/2006/relationships/notesSlide" Target="/ppt/notesSlides/notesSlide6.xml" Id="R9ed049ec5bd349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939c623c74b89" /><Relationship Type="http://schemas.openxmlformats.org/officeDocument/2006/relationships/image" Target="/ppt/media/image3.bin" Id="R12e9e1b11a2c4009" /><Relationship Type="http://schemas.openxmlformats.org/officeDocument/2006/relationships/image" Target="/ppt/media/image3.png" Id="Rfb3fa60d2e704c0d" /><Relationship Type="http://schemas.openxmlformats.org/officeDocument/2006/relationships/image" Target="/ppt/media/image3.svg" Id="R9dfb37c09eb64061" /><Relationship Type="http://schemas.openxmlformats.org/officeDocument/2006/relationships/image" Target="/ppt/media/image4.png" Id="Rb84a41bfb06442be" /><Relationship Type="http://schemas.openxmlformats.org/officeDocument/2006/relationships/image" Target="/ppt/media/image4.svg" Id="Rf167d92fdc3242b4" /><Relationship Type="http://schemas.openxmlformats.org/officeDocument/2006/relationships/hyperlink" Target="https://bidframe.org" TargetMode="External" Id="R7ff53a94b5c147a6" /><Relationship Type="http://schemas.openxmlformats.org/officeDocument/2006/relationships/hyperlink" Target="https://bidframe.org/demo" TargetMode="External" Id="Rd419100ceb3f4ca3" /><Relationship Type="http://schemas.openxmlformats.org/officeDocument/2006/relationships/notesSlide" Target="/ppt/notesSlides/notesSlide7.xml" Id="Rf83ed79a8c834c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da1d4f5ac467c" /><Relationship Type="http://schemas.openxmlformats.org/officeDocument/2006/relationships/image" Target="/ppt/media/image5.png" Id="R64ec2541aa354808" /><Relationship Type="http://schemas.openxmlformats.org/officeDocument/2006/relationships/image" Target="/ppt/media/image5.svg" Id="Ra89f4650e677445a" /><Relationship Type="http://schemas.openxmlformats.org/officeDocument/2006/relationships/image" Target="/ppt/media/image6.png" Id="R21bd8b3c5cb043d6" /><Relationship Type="http://schemas.openxmlformats.org/officeDocument/2006/relationships/image" Target="/ppt/media/image6.svg" Id="Rdd486011addc4814" /><Relationship Type="http://schemas.openxmlformats.org/officeDocument/2006/relationships/image" Target="/ppt/media/image7.png" Id="R2f1671ef5c1245e4" /><Relationship Type="http://schemas.openxmlformats.org/officeDocument/2006/relationships/image" Target="/ppt/media/image7.svg" Id="Rc94d7880ae6f4f47" /><Relationship Type="http://schemas.openxmlformats.org/officeDocument/2006/relationships/image" Target="/ppt/media/image8.png" Id="R50648a6bde9944c3" /><Relationship Type="http://schemas.openxmlformats.org/officeDocument/2006/relationships/image" Target="/ppt/media/image8.svg" Id="R31d344b0a8a14c54" /><Relationship Type="http://schemas.openxmlformats.org/officeDocument/2006/relationships/notesSlide" Target="/ppt/notesSlides/notesSlide8.xml" Id="R1f3d746c647745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7c6afaad434e" /><Relationship Type="http://schemas.openxmlformats.org/officeDocument/2006/relationships/notesSlide" Target="/ppt/notesSlides/notesSlide9.xml" Id="R1fea3f17837848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dcbb491c1406c" /><Relationship Type="http://schemas.openxmlformats.org/officeDocument/2006/relationships/notesSlide" Target="/ppt/notesSlides/notesSlide10.xml" Id="Rb096f0046d4249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25cb426fa4b06" /><Relationship Type="http://schemas.openxmlformats.org/officeDocument/2006/relationships/image" Target="/ppt/media/image9.jpeg" Id="R7780afac45cc4a7e" /><Relationship Type="http://schemas.openxmlformats.org/officeDocument/2006/relationships/image" Target="/ppt/media/image10.jpeg" Id="Rd6b7db26dcfa4a75" /><Relationship Type="http://schemas.openxmlformats.org/officeDocument/2006/relationships/notesSlide" Target="/ppt/notesSlides/notesSlide11.xml" Id="R53d110c075ba4c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886f1ea4142f5" /><Relationship Type="http://schemas.openxmlformats.org/officeDocument/2006/relationships/notesSlide" Target="/ppt/notesSlides/notesSlide12.xml" Id="R86c2cdaf951c42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ad20afed444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60E30-0834-4729-B102-08407755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389"/>
            </a:avLst>
          </a:prstGeom>
          <a:solidFill xmlns:a="http://schemas.openxmlformats.org/drawingml/2006/main">
            <a:srgbClr val="0B1710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55b3481c54b91">
            <a:extLst>
              <a:ext uri="{96DAC541-7B7A-43D3-8B79-37D633B846F1}">
                <asvg:svgBlip xmlns:asvg="http://schemas.microsoft.com/office/drawing/2016/SVG/main" r:embed="Rbabf824e6b7c44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00050"/>
            <a:ext cx="1428750" cy="3238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4639fca234b1f">
            <a:extLst>
              <a:ext uri="{96DAC541-7B7A-43D3-8B79-37D633B846F1}">
                <asvg:svgBlip xmlns:asvg="http://schemas.microsoft.com/office/drawing/2016/SVG/main" r:embed="Rf0681156f3c145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51054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5AF8A-4F7A-426E-9BD9-90A0BBFB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E8728-7CAE-4057-817C-FB662E48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6F2E9"/>
                </a:solidFill>
                <a:latin typeface="Fraunces"/>
                <a:ea typeface="Fraunces"/>
                <a:cs typeface="Fraunces"/>
              </a:defRPr>
            </a:pPr>
            <a:r>
              <a:rPr sz="4800" b="1">
                <a:solidFill>
                  <a:srgbClr val="F6F2E9"/>
                </a:solidFill>
                <a:latin typeface="Fraunces"/>
                <a:ea typeface="Fraunces"/>
                <a:cs typeface="Fraunces"/>
              </a:rPr>
              <a:t>One missed deal-breaker kills the bid.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18750-65A9-4803-B3E2-1322ED4F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875" b="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A tender is the buyer's instruction pack. Miss one mandatory pass/fail clause and the bid can be rejected before the good parts are read.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3E10B-B22E-482D-875D-C0665A2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971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2383">
            <a:solidFill>
              <a:srgbClr val="B42D24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rPr>
              <a:t>Oxblood = disqualification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87987-4C3E-42DD-965C-6B77311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F2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62651-83D2-48C2-8197-D11E1357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Bidframe  01</a:t>
            </a:r>
          </a:p>
        </p:txBody>
      </p:sp>
    </p:spTree>
    <p:extLst>
      <p:ext uri="{BB962C8B-B14F-4D97-AF65-F5344CB8AC3E}">
        <p14:creationId xmlns:p14="http://schemas.microsoft.com/office/powerpoint/2010/main" val="1396210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54EC5F-C8BE-4F78-9967-1197CA9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DA29D-BE7C-4129-BD3B-AE99C59A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The bid manager's first read.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565F0-B3D4-4B3C-A7AF-59C8F792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87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Before a supplier can bid, someone has to turn a dense PDF into a checklist the team can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834A8-7367-4AF7-A25A-92A6D099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Tender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4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Buyer's instruction pack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31FB7-008F-4C9E-94D4-54EF5593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DD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C413D-0F13-421B-B386-E5D5CD2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5755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Read rules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4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Find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48B64-1E91-449C-B941-B7E66943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576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DD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296E2-7179-4922-8C07-2C9D796F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Matrix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4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Build the checklist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CE733-A293-472A-AF98-CA5F7B9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2D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CCEA6-73AB-460F-B1CA-BDAB240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5755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6F3"/>
          </a:solidFill>
          <a:ln xmlns:a="http://schemas.openxmlformats.org/drawingml/2006/main" w="19050">
            <a:solidFill>
              <a:srgbClr val="8A2D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Deal-breakers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4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Check pass/fail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1BD51-747D-4D00-BDB1-731FECF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DD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CAFC1-74C2-42CF-BE66-F0B2F3A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Submit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4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Bid goes 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B5DEC-EB78-40E9-9222-50D3C557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333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D3A2B"/>
          </a:solidFill>
          <a:ln xmlns:a="http://schemas.openxmlformats.org/drawingml/2006/main" w="0">
            <a:solidFill>
              <a:srgbClr val="1D3A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7E281-7401-4826-8883-9770EDE2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31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GBP 300bn+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EB3DC-91FC-4812-AC82-E64953BD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200" b="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UK public procurement is a massive document-heavy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259CF-A626-4981-9C0C-F4BB650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02</a:t>
            </a:r>
          </a:p>
        </p:txBody>
      </p:sp>
    </p:spTree>
    <p:extLst>
      <p:ext uri="{BB962C8B-B14F-4D97-AF65-F5344CB8AC3E}">
        <p14:creationId xmlns:p14="http://schemas.microsoft.com/office/powerpoint/2010/main" val="1856675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4D2A5-A4B6-4D39-BD7D-9E04E58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C85A6-D441-42FE-8B6C-C58588BC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37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A marked trail through the tender.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199E9-E6C8-43E6-AEF0-6A49AC4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72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Bidframe turns the first read into a verified worklist: every requirement, source, confidence signal, and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5982E-4015-4AEB-826C-EDF8D358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Deal-breakers rise to the top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Uncertain items stay visible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Humans approve, edit, or flag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6de56d4b94b64"/>
          <a:srcRect xmlns:a="http://schemas.openxmlformats.org/drawingml/2006/main" l="10200" t="0" r="102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123950"/>
            <a:ext cx="5715000" cy="4038600"/>
          </a:xfrm>
          <a:prstGeom xmlns:a="http://schemas.openxmlformats.org/drawingml/2006/main" prst="roundRect">
            <a:avLst>
              <a:gd name="adj" fmla="val 28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F7D32-73BF-4AE9-AB22-45C849A5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2095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42D24"/>
          </a:solidFill>
          <a:ln xmlns:a="http://schemas.openxmlformats.org/drawingml/2006/main" w="0">
            <a:solidFill>
              <a:srgbClr val="B42D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43195-6665-4801-9C51-B0D1D4C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Deal-breaker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3CB74-A5E9-484B-93CB-B0F17AF9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03</a:t>
            </a:r>
          </a:p>
        </p:txBody>
      </p:sp>
    </p:spTree>
    <p:extLst>
      <p:ext uri="{BB962C8B-B14F-4D97-AF65-F5344CB8AC3E}">
        <p14:creationId xmlns:p14="http://schemas.microsoft.com/office/powerpoint/2010/main" val="963423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40128-35A5-434C-ABBC-AC644F4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3023C-31EC-4466-8CEC-3468EB9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360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Deal-breakers first. Every line checkable.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de00e48a04a5b"/>
          <a:srcRect xmlns:a="http://schemas.openxmlformats.org/drawingml/2006/main" l="0" t="3120" r="0" b="3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1200"/>
            <a:ext cx="5562600" cy="293370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f191e4b0346e7"/>
          <a:srcRect xmlns:a="http://schemas.openxmlformats.org/drawingml/2006/main" l="2465" t="0" r="24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981200"/>
            <a:ext cx="2286000" cy="1352550"/>
          </a:xfrm>
          <a:prstGeom xmlns:a="http://schemas.openxmlformats.org/drawingml/2006/main" prst="roundRect">
            <a:avLst>
              <a:gd name="adj" fmla="val 7042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cf901d0a04632"/>
          <a:srcRect xmlns:a="http://schemas.openxmlformats.org/drawingml/2006/main" l="2465" t="0" r="24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050" y="1981200"/>
            <a:ext cx="2286000" cy="1352550"/>
          </a:xfrm>
          <a:prstGeom xmlns:a="http://schemas.openxmlformats.org/drawingml/2006/main" prst="roundRect">
            <a:avLst>
              <a:gd name="adj" fmla="val 704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9B107-078C-4F16-B9E3-0E7B108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476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Deal-breaker detection is the hero.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Source page, clause, and excerpt stay attached.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Evidence-backed drafts ask instead of guessing.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5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The bid manager approves every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E5A5D-FAEF-4EB3-917C-88F498E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82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6F3"/>
          </a:solidFill>
          <a:ln xmlns:a="http://schemas.openxmlformats.org/drawingml/2006/main" w="14288">
            <a:solidFill>
              <a:srgbClr val="8A2D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E8885-2142-495E-8D5C-B41A99CA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rPr>
              <a:t>Proof, scoped to the worked 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BDA06-1C7D-4655-B4AB-FBA8C50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00675"/>
            <a:ext cx="706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350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Every disqualifying gate surfaced   |   0 dangerous misses on the hero tender   |   0 invented answers in groundedness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016D8-2CBA-4B25-A6A4-529EC36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04</a:t>
            </a:r>
          </a:p>
        </p:txBody>
      </p:sp>
    </p:spTree>
    <p:extLst>
      <p:ext uri="{BB962C8B-B14F-4D97-AF65-F5344CB8AC3E}">
        <p14:creationId xmlns:p14="http://schemas.microsoft.com/office/powerpoint/2010/main" val="1993288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B001F-2801-4109-AB16-8601455C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C924A-D0CF-49C0-A393-B68FC9C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PDF to matrix to proof to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E62CF-44E6-4270-B15E-F9B98302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3124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20076856a42ee"/>
          <a:srcRect xmlns:a="http://schemas.openxmlformats.org/drawingml/2006/main" l="4842" t="0" r="4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52650"/>
            <a:ext cx="217170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81838-777C-43FA-871C-3A482C4A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2383">
            <a:solidFill>
              <a:srgbClr val="2C5640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241DB-7296-40D5-9DC4-29148A0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75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4F147-D08B-48DD-B709-BB8AC8F9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27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Tender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1887A-ADD2-4B9C-BE27-6BEAEE2A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4DD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FB736-953B-42E9-B502-B852BF75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476500" cy="3124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56a8bef7d4942"/>
          <a:srcRect xmlns:a="http://schemas.openxmlformats.org/drawingml/2006/main" l="4842" t="0" r="4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0" y="2152650"/>
            <a:ext cx="217170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65621-8F27-430D-98F0-16829B8C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D24"/>
          </a:solidFill>
          <a:ln xmlns:a="http://schemas.openxmlformats.org/drawingml/2006/main" w="12383">
            <a:solidFill>
              <a:srgbClr val="B42D24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A68AE-B91B-48F3-BCC8-9C1EBBA5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75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DC9BC-1749-45A8-8083-579ADB09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38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27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Deal-breakers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B0954-8DED-4EC8-86B8-2A7F1D9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42D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B0B72-71F2-4192-A22C-314D17D1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476500" cy="3124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02e768b964374"/>
          <a:srcRect xmlns:a="http://schemas.openxmlformats.org/drawingml/2006/main" l="4842" t="0" r="4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2152650"/>
            <a:ext cx="217170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C21AC-5D2F-429C-B13E-2B099256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2383">
            <a:solidFill>
              <a:srgbClr val="2C5640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F2B4-3F53-4031-8985-6EF6D41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75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0B00D-5BE4-4B18-BB53-BE1EEC1C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27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Exact page and clause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E4E90-2F62-4FFB-8647-94A5F298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4DD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2D37B-0606-4E0A-9F0C-5A2280D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2476500" cy="3124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7f64b413747de"/>
          <a:srcRect xmlns:a="http://schemas.openxmlformats.org/drawingml/2006/main" l="4842" t="0" r="4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2152650"/>
            <a:ext cx="217170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7062E-E996-44E3-9C66-5F43AE3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2383">
            <a:solidFill>
              <a:srgbClr val="2C5640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75A18-E9DB-4FB1-814A-9CD710DE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75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Answer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ED58B9-3216-4B0F-A4AB-BDC87EC3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38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27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Receipts or questions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816EF-0CCE-44BA-BF98-B42078DD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Live route: </a:t>
            </a:r>
            <a:r>
              <a:rPr sz="18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  <a:hlinkClick xmlns:r="http://schemas.openxmlformats.org/officeDocument/2006/relationships" r:id="R244df690924b47fb"/>
              </a:rPr>
              <a:t>bidframe.org/demo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5ED31-FE49-4DAB-BA71-C14F885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43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For stage reliability, this is a cached output from the real backend pipeline.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7D3A7A-579D-42F2-AE11-ACE561C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05</a:t>
            </a:r>
          </a:p>
        </p:txBody>
      </p:sp>
    </p:spTree>
    <p:extLst>
      <p:ext uri="{BB962C8B-B14F-4D97-AF65-F5344CB8AC3E}">
        <p14:creationId xmlns:p14="http://schemas.microsoft.com/office/powerpoint/2010/main" val="28640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3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e8a4ff9764aea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FE370-FAA1-408E-9773-24DD6DB4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389"/>
            </a:avLst>
          </a:prstGeom>
          <a:solidFill xmlns:a="http://schemas.openxmlformats.org/drawingml/2006/main">
            <a:srgbClr val="102418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EBA5E-FA1D-4398-ABAE-A4867553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8E2D2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D8E2D2"/>
                </a:solidFill>
                <a:latin typeface="IBM Plex Mono"/>
                <a:ea typeface="IBM Plex Mono"/>
                <a:cs typeface="IBM Plex Mono"/>
              </a:rPr>
              <a:t>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7584-2BCF-48C0-B99B-276E6AB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F6F2E9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F6F2E9"/>
                </a:solidFill>
                <a:latin typeface="Fraunces"/>
                <a:ea typeface="Fraunces"/>
                <a:cs typeface="Fraunces"/>
              </a:rPr>
              <a:t>A trust layer, not a PDF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76120-1672-481B-A8C3-FEDC8A04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4288">
            <a:solidFill>
              <a:srgbClr val="D8E2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9F7C2-A3FA-40F9-8FC2-EE34EC5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PDF ingest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5271-C7FA-480A-9472-AA6A1232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337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C1EC0-43C2-44FD-871C-ACDA5EE2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4288">
            <a:solidFill>
              <a:srgbClr val="D8E2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D6E86-B13A-4360-95A2-3078B0D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8555F-B064-4C4A-97D2-34C419D6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337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42147-0932-4624-8C53-23BD439E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4288">
            <a:solidFill>
              <a:srgbClr val="D8E2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42B60-5F11-49D0-9494-9BB321AA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Reconcile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B23FE-01A2-44BB-9F90-281FC5DA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337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2D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4BB05-325F-4244-91E2-10D93C0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42D24"/>
          </a:solidFill>
          <a:ln xmlns:a="http://schemas.openxmlformats.org/drawingml/2006/main" w="14288">
            <a:solidFill>
              <a:srgbClr val="B42D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2C081-8F22-4B42-8E6D-C05CBEA6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Classify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61346-2375-42D6-8A2E-3EE5C62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AEAA-597C-405B-B9B0-170869A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4288">
            <a:solidFill>
              <a:srgbClr val="D8E2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C96DB-11D4-4FB5-8129-03DA3B34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Source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6717C-3082-44A0-ACC5-13F8764A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337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EA697-9E28-4809-A03B-59C5D30E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4288">
            <a:solidFill>
              <a:srgbClr val="D8E2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DF6D7-149A-4D8B-83B0-46FD7ECC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Answer receipts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B4823-DE86-4A7B-B267-BB794490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337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35AFE-6D3A-4099-80B3-B5B5138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1276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14288">
            <a:solidFill>
              <a:srgbClr val="D8E2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F9921-B1C3-4707-9523-B6401956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52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200" b="1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Eval harness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CA3AF-FC7B-4B22-8B23-C86F922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65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FastAPI backend for ingest and API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65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Python engine for dedupe, confidence routing, and evals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65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Next.js surface for matrix, source proof, graph, and answers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165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Eval focuses on dangerous misses, especially deal-breakers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322B7-3657-4AEF-8679-A4C2686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Bidframe  06</a:t>
            </a:r>
          </a:p>
        </p:txBody>
      </p:sp>
    </p:spTree>
    <p:extLst>
      <p:ext uri="{BB962C8B-B14F-4D97-AF65-F5344CB8AC3E}">
        <p14:creationId xmlns:p14="http://schemas.microsoft.com/office/powerpoint/2010/main" val="488561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3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9e1b11a2c40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19AA3-ABD2-4423-8C8B-D1381F8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389"/>
            </a:avLst>
          </a:prstGeom>
          <a:solidFill xmlns:a="http://schemas.openxmlformats.org/drawingml/2006/main">
            <a:srgbClr val="0E1F1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fa60d2e704c0d">
            <a:extLst>
              <a:ext uri="{96DAC541-7B7A-43D3-8B79-37D633B846F1}">
                <asvg:svgBlip xmlns:asvg="http://schemas.microsoft.com/office/drawing/2016/SVG/main" r:embed="R9dfb37c09eb640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00050"/>
            <a:ext cx="1428750" cy="3238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a41bfb06442be">
            <a:extLst>
              <a:ext uri="{96DAC541-7B7A-43D3-8B79-37D633B846F1}">
                <asvg:svgBlip xmlns:asvg="http://schemas.microsoft.com/office/drawing/2016/SVG/main" r:embed="Rf167d92fdc3242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05950" y="8763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8FDED-04EB-4496-971B-75B0D188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B6FFB-B01B-47E2-B395-4F661C50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429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6F2E9"/>
                </a:solidFill>
                <a:latin typeface="Fraunces"/>
                <a:ea typeface="Fraunces"/>
                <a:cs typeface="Fraunces"/>
              </a:defRPr>
            </a:pPr>
            <a:r>
              <a:rPr sz="4350" b="1">
                <a:solidFill>
                  <a:srgbClr val="F6F2E9"/>
                </a:solidFill>
                <a:latin typeface="Fraunces"/>
                <a:ea typeface="Fraunces"/>
                <a:cs typeface="Fraunces"/>
              </a:rPr>
              <a:t>Help us scale the first-read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18A5C-4265-4CC6-9985-2A60A86D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F6F2E9"/>
                </a:solidFill>
                <a:latin typeface="Chillax"/>
                <a:ea typeface="Chillax"/>
                <a:cs typeface="Chillax"/>
              </a:defRPr>
            </a:pPr>
            <a:r>
              <a:rPr sz="2025" b="0">
                <a:solidFill>
                  <a:srgbClr val="F6F2E9"/>
                </a:solidFill>
                <a:latin typeface="Chillax"/>
                <a:ea typeface="Chillax"/>
                <a:cs typeface="Chillax"/>
              </a:rPr>
              <a:t>Talk to us if you would like to help Bidframe scale the first-read layer for public-sector bids.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A70CD-04BC-4169-A8B4-BA3A1F8D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23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F6F2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5B3CC-19E2-4A14-B57C-E2497BD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  <a:hlinkClick xmlns:r="http://schemas.openxmlformats.org/officeDocument/2006/relationships" r:id="R7ff53a94b5c147a6"/>
              </a:rPr>
              <a:t>bidframe.org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D3220-2E01-4CA0-AEB0-E8FE18B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Demo: </a:t>
            </a:r>
            <a:r>
              <a:rPr sz="1650" b="1">
                <a:solidFill>
                  <a:srgbClr val="F6F2E9"/>
                </a:solidFill>
                <a:latin typeface="IBM Plex Mono"/>
                <a:ea typeface="IBM Plex Mono"/>
                <a:cs typeface="IBM Plex Mono"/>
                <a:hlinkClick xmlns:r="http://schemas.openxmlformats.org/officeDocument/2006/relationships" r:id="Rd419100ceb3f4ca3"/>
              </a:rPr>
              <a:t>bidframe.org/demo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3A13E-B7F4-4675-BC58-A8C8C48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Bidframe  07</a:t>
            </a:r>
          </a:p>
        </p:txBody>
      </p:sp>
    </p:spTree>
    <p:extLst>
      <p:ext uri="{BB962C8B-B14F-4D97-AF65-F5344CB8AC3E}">
        <p14:creationId xmlns:p14="http://schemas.microsoft.com/office/powerpoint/2010/main" val="869777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04DF5-CEE8-419E-B992-7310B2A0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414CA-EF00-48D2-A469-2263856A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The team.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E8423-18E1-40AC-AD5A-CE8B807A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324100" cy="33147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c2541aa354808">
            <a:extLst>
              <a:ext uri="{96DAC541-7B7A-43D3-8B79-37D633B846F1}">
                <asvg:svgBlip xmlns:asvg="http://schemas.microsoft.com/office/drawing/2016/SVG/main" r:embed="Ra89f4650e67744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0764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0791D-A03A-478C-B1DD-DE833AD8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0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Jawad Jalal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2355B-1B3F-4019-8C8B-DA12F92B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69327-FA5D-4D9D-9D33-36C05108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71650"/>
            <a:ext cx="2324100" cy="33147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d8b3c5cb043d6">
            <a:extLst>
              <a:ext uri="{96DAC541-7B7A-43D3-8B79-37D633B846F1}">
                <asvg:svgBlip xmlns:asvg="http://schemas.microsoft.com/office/drawing/2016/SVG/main" r:embed="Rdd486011addc48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86225" y="20764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E36E5-1CD8-45C4-B90B-807FEAC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752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0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Bobby Choi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8DADE-8BB9-4AA8-A7FE-CE721C17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719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generalist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309CE-16D6-4525-9C64-3D10BC5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2324100" cy="33147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671ef5c1245e4">
            <a:extLst>
              <a:ext uri="{96DAC541-7B7A-43D3-8B79-37D633B846F1}">
                <asvg:svgBlip xmlns:asvg="http://schemas.microsoft.com/office/drawing/2016/SVG/main" r:embed="Rc94d7880ae6f4f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20764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6B304-146E-45BC-B997-3EE7738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0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Pranav Bonagiri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FE119-D481-411B-B68D-1D5A2076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BF039-649E-4D4E-8C47-9B23EB3A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71650"/>
            <a:ext cx="2324100" cy="33147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48a6bde9944c3">
            <a:extLst>
              <a:ext uri="{96DAC541-7B7A-43D3-8B79-37D633B846F1}">
                <asvg:svgBlip xmlns:asvg="http://schemas.microsoft.com/office/drawing/2016/SVG/main" r:embed="R31d344b0a8a14c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05975" y="20764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42DFA-2ABD-41ED-9987-D9B0FFD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752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180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Joel Jeon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81DE9-5089-4876-8416-21137724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1719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GTM, outreach, 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AF9B9-CFD6-4816-8817-0F8EEE35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425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Names and roles only. Everyone crossed roles to ship the demo.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DDAFF-BC79-4735-8855-DFAAA7D8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08</a:t>
            </a:r>
          </a:p>
        </p:txBody>
      </p:sp>
    </p:spTree>
    <p:extLst>
      <p:ext uri="{BB962C8B-B14F-4D97-AF65-F5344CB8AC3E}">
        <p14:creationId xmlns:p14="http://schemas.microsoft.com/office/powerpoint/2010/main" val="1808863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C3D7D-4374-4F21-B6A1-670B2CC4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5F76F-1B5E-40C3-BC0D-74C86552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What we can claim today.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B3CC5-4B0F-4F1A-A921-6A627445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819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6F3"/>
          </a:solidFill>
          <a:ln xmlns:a="http://schemas.openxmlformats.org/drawingml/2006/main" w="13335">
            <a:solidFill>
              <a:srgbClr val="8A2D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5F431-5361-44BC-91D5-124B1791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rPr>
              <a:t>Every deal-breaker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837F8-4C48-444D-A23B-F2EC722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350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surfaced on the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1F2F2-5C62-4546-9CAF-6823E80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66900"/>
            <a:ext cx="4819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6F3"/>
          </a:solidFill>
          <a:ln xmlns:a="http://schemas.openxmlformats.org/drawingml/2006/main" w="13335">
            <a:solidFill>
              <a:srgbClr val="8A2D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ADDA-C0E6-4053-B370-F50B9DC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>
                <a:solidFill>
                  <a:srgbClr val="B42D24"/>
                </a:solidFill>
                <a:latin typeface="IBM Plex Mono"/>
                <a:ea typeface="IBM Plex Mono"/>
                <a:cs typeface="IBM Plex Mono"/>
              </a:rPr>
              <a:t>0 dangerous misses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9266E-4F4B-4C1B-A335-2CE4A11A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350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on the hero tender's disqualifying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D4230-82E7-46C2-9758-B06FDCB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819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1333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8CC39-0C74-4683-9723-59974E3F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11D17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>
                <a:solidFill>
                  <a:srgbClr val="211D17"/>
                </a:solidFill>
                <a:latin typeface="IBM Plex Mono"/>
                <a:ea typeface="IBM Plex Mono"/>
                <a:cs typeface="IBM Plex Mono"/>
              </a:rPr>
              <a:t>0 invented answers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81A31-2DEF-4C75-846C-8708B34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350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in grounded answer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38FC4-6865-4801-8A15-0A321C9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4819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1333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3F290-7878-496F-A88C-3FC19EF8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11D17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>
                <a:solidFill>
                  <a:srgbClr val="211D17"/>
                </a:solidFill>
                <a:latin typeface="IBM Plex Mono"/>
                <a:ea typeface="IBM Plex Mono"/>
                <a:cs typeface="IBM Plex Mono"/>
              </a:rPr>
              <a:t>18 / 19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FB1A1-C794-481D-BA97-BE8D0F6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E6559"/>
                </a:solidFill>
                <a:latin typeface="Chillax"/>
                <a:ea typeface="Chillax"/>
                <a:cs typeface="Chillax"/>
              </a:defRPr>
            </a:pPr>
            <a:r>
              <a:rPr sz="1350" b="0">
                <a:solidFill>
                  <a:srgbClr val="6E6559"/>
                </a:solidFill>
                <a:latin typeface="Chillax"/>
                <a:ea typeface="Chillax"/>
                <a:cs typeface="Chillax"/>
              </a:rPr>
              <a:t>found on the first measured tender, with the uncertain item surfaced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044CD-02FE-4E5D-9AFE-EEDD32C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8A2D2A"/>
                </a:solidFill>
                <a:latin typeface="Chillax"/>
                <a:ea typeface="Chillax"/>
                <a:cs typeface="Chillax"/>
              </a:defRPr>
            </a:pPr>
            <a:r>
              <a:rPr sz="1575" b="1">
                <a:solidFill>
                  <a:srgbClr val="8A2D2A"/>
                </a:solidFill>
                <a:latin typeface="Chillax"/>
                <a:ea typeface="Chillax"/>
                <a:cs typeface="Chillax"/>
              </a:rPr>
              <a:t>Do not say guaranteed or universal accuracy. Say worked example, hero tender, measured set.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40A86-7F2E-44B9-9D83-F093AA8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09</a:t>
            </a:r>
          </a:p>
        </p:txBody>
      </p:sp>
    </p:spTree>
    <p:extLst>
      <p:ext uri="{BB962C8B-B14F-4D97-AF65-F5344CB8AC3E}">
        <p14:creationId xmlns:p14="http://schemas.microsoft.com/office/powerpoint/2010/main" val="671287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DBB351-AB76-406D-94BE-7037808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2E366-70B6-4F19-85E0-5298E16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Why this workflow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4AA68-D6B3-4B15-917B-4BB58B5E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33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GBP 341bn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13940-B904-4DFA-9947-B0424F60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859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UK public procurement from the private sector in 2023-24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2FACB-6C43-4D30-8DA4-CEE1A15F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4DD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D5D0-AAA6-4AB5-BF29-AC910D1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33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32%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CB10D-6CFB-4ED3-87C2-8AF6B2CC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99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Share of UK public spending represented by that procurement figure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B2519-3B43-4E57-8662-B0982E9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4DD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BAD09-F535-49D1-AA52-3E0A74C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33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24 Feb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16D54-1680-4E23-811C-75F71EE9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338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725" b="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New UK procurement regime went live, raising the need for clear 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7E7C1-9309-4CCF-8092-23B0682D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4DD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202D3-BA08-4DAA-B858-11941B3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Sources to cite in final export notes: House of Commons Library procurement statistics; Cabinet Office / Government Commercial Function Procurement Act go-live materials.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B08CF-D8D9-4A64-AF5F-FD2EAD8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10</a:t>
            </a:r>
          </a:p>
        </p:txBody>
      </p:sp>
    </p:spTree>
    <p:extLst>
      <p:ext uri="{BB962C8B-B14F-4D97-AF65-F5344CB8AC3E}">
        <p14:creationId xmlns:p14="http://schemas.microsoft.com/office/powerpoint/2010/main" val="2146840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3CED5-CDC7-4F54-8924-9332CEA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F0F49-CC0B-425C-BDB2-E9DD665C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Stage-safe demo route.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0afac45cc4a7e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200150"/>
            <a:ext cx="4705350" cy="264795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7db26dcfa4a75"/>
          <a:srcRect xmlns:a="http://schemas.openxmlformats.org/drawingml/2006/main" l="0" t="21930" r="0" b="21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095750"/>
            <a:ext cx="4705350" cy="14859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A68B1-01D5-49B3-AC6F-86F0583F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8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8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Primary CTA: bidframe.org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8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8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Secondary CTA: bidframe.org/demo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8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8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Demo is a cached real pipeline output for reliability</a:t>
            </a:r>
          </a:p>
          <a:p xmlns:a="http://schemas.openxmlformats.org/drawingml/2006/main">
            <a:pPr marL="24" indent="-14">
              <a:lnSpc>
                <a:spcPct val="108000"/>
              </a:lnSpc>
              <a:spcAft>
                <a:spcPts val="8"/>
              </a:spcAft>
              <a:buNone/>
              <a:defRPr sz="1800">
                <a:solidFill>
                  <a:srgbClr val="211D17"/>
                </a:solidFill>
                <a:latin typeface="Chillax"/>
                <a:ea typeface="Chillax"/>
                <a:cs typeface="Chillax"/>
              </a:defRPr>
            </a:pPr>
            <a:r>
              <a:rPr sz="1800">
                <a:solidFill>
                  <a:srgbClr val="211D17"/>
                </a:solidFill>
                <a:latin typeface="Chillax"/>
                <a:ea typeface="Chillax"/>
                <a:cs typeface="Chillax"/>
              </a:rPr>
              <a:t>Use screenshots if venue wifi or live auth fails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929BC-76CC-4F7B-B4E2-CECB865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BDD"/>
          </a:solidFill>
          <a:ln xmlns:a="http://schemas.openxmlformats.org/drawingml/2006/main" w="11430">
            <a:solidFill>
              <a:srgbClr val="2C564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13781-E788-440D-A36E-698FD304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1">
                <a:solidFill>
                  <a:srgbClr val="2C5640"/>
                </a:solidFill>
                <a:latin typeface="IBM Plex Mono"/>
                <a:ea typeface="IBM Plex Mono"/>
                <a:cs typeface="IBM Plex Mono"/>
              </a:rPr>
              <a:t>Live route QA passed: homepage, /demo, and /answers 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51ECE-52D8-4B77-9EE7-FB65260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11</a:t>
            </a:r>
          </a:p>
        </p:txBody>
      </p:sp>
    </p:spTree>
    <p:extLst>
      <p:ext uri="{BB962C8B-B14F-4D97-AF65-F5344CB8AC3E}">
        <p14:creationId xmlns:p14="http://schemas.microsoft.com/office/powerpoint/2010/main" val="920672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82117-A896-4F25-8975-74E7D4DE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A1BE0-7AEE-48F3-B37C-F6E9722F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4050" b="1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Before bid writing: the first-read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D939E-B4DC-40F0-AB83-91A1433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4686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4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23850" tIns="285750" rIns="323850" bIns="28575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2100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Typical AI bid tools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2100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Generate prose after the team already knows what to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08B15-0655-41C1-A713-EB3229F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686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6F3"/>
          </a:solidFill>
          <a:ln xmlns:a="http://schemas.openxmlformats.org/drawingml/2006/main" w="19050">
            <a:solidFill>
              <a:srgbClr val="8A2D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23850" tIns="285750" rIns="323850" bIns="28575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2100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Bidframe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>
                <a:solidFill>
                  <a:srgbClr val="211D17"/>
                </a:solidFill>
                <a:latin typeface="Fraunces"/>
                <a:ea typeface="Fraunces"/>
                <a:cs typeface="Fraunces"/>
              </a:defRPr>
            </a:pPr>
            <a:r>
              <a:rPr sz="2100">
                <a:solidFill>
                  <a:srgbClr val="211D17"/>
                </a:solidFill>
                <a:latin typeface="Fraunces"/>
                <a:ea typeface="Fraunces"/>
                <a:cs typeface="Fraunces"/>
              </a:rPr>
              <a:t>Find the deal-breakers, build the matrix, prove the source, then draft from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4A93B-CDD0-4C87-9AC7-A0B24049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054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D24"/>
          </a:solidFill>
          <a:ln xmlns:a="http://schemas.openxmlformats.org/drawingml/2006/main" w="12383">
            <a:solidFill>
              <a:srgbClr val="B42D24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6F2E9"/>
                </a:solidFill>
                <a:latin typeface="IBM Plex Mono"/>
                <a:ea typeface="IBM Plex Mono"/>
                <a:cs typeface="IBM Plex Mono"/>
              </a:rPr>
              <a:t>compliance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52B44-E5D3-44F2-BE2C-96FB1241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2C5640"/>
                </a:solidFill>
                <a:latin typeface="Chillax"/>
                <a:ea typeface="Chillax"/>
                <a:cs typeface="Chillax"/>
              </a:defRPr>
            </a:pPr>
            <a:r>
              <a:rPr sz="1875" b="1">
                <a:solidFill>
                  <a:srgbClr val="2C5640"/>
                </a:solidFill>
                <a:latin typeface="Chillax"/>
                <a:ea typeface="Chillax"/>
                <a:cs typeface="Chillax"/>
              </a:rPr>
              <a:t>The wedge is earlier than writing: the auditable first read.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07129-2D90-4324-800D-B878B307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6E6559"/>
                </a:solidFill>
                <a:latin typeface="IBM Plex Mono"/>
                <a:ea typeface="IBM Plex Mono"/>
                <a:cs typeface="IBM Plex Mono"/>
              </a:rPr>
              <a:t>Bidframe  12</a:t>
            </a:r>
          </a:p>
        </p:txBody>
      </p:sp>
    </p:spTree>
    <p:extLst>
      <p:ext uri="{BB962C8B-B14F-4D97-AF65-F5344CB8AC3E}">
        <p14:creationId xmlns:p14="http://schemas.microsoft.com/office/powerpoint/2010/main" val="1676831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2026-07-03T14:25:18.4710000Z</dcterms:created>
  <dcterms:modified xsi:type="dcterms:W3CDTF">2026-07-03T14:25:18.4710000Z</dcterms:modified>
</coreProperties>
</file>